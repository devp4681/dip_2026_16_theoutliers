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Times New Roman Bold" panose="02020803070505020304" pitchFamily="18" charset="0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29988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3988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73053" y="676846"/>
            <a:ext cx="6159208" cy="2021586"/>
            <a:chOff x="0" y="0"/>
            <a:chExt cx="8212277" cy="26954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212328" cy="2695448"/>
            </a:xfrm>
            <a:custGeom>
              <a:avLst/>
              <a:gdLst/>
              <a:ahLst/>
              <a:cxnLst/>
              <a:rect l="l" t="t" r="r" b="b"/>
              <a:pathLst>
                <a:path w="8212328" h="2695448">
                  <a:moveTo>
                    <a:pt x="0" y="0"/>
                  </a:moveTo>
                  <a:lnTo>
                    <a:pt x="8212328" y="0"/>
                  </a:lnTo>
                  <a:lnTo>
                    <a:pt x="8212328" y="2695448"/>
                  </a:lnTo>
                  <a:lnTo>
                    <a:pt x="0" y="2695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" r="-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828008" y="3119932"/>
            <a:ext cx="14919960" cy="2135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8"/>
              </a:lnSpc>
            </a:pPr>
            <a:r>
              <a:rPr lang="en-US" sz="51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Multi-Label Content-Based Image Retrieval for Aerial Images using Classical Computer Vision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43701" y="705421"/>
            <a:ext cx="15590520" cy="61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</a:pPr>
            <a:r>
              <a:rPr lang="en-US" sz="43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ECE 501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3053" y="6554380"/>
            <a:ext cx="9523053" cy="309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9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Group 16</a:t>
            </a:r>
          </a:p>
          <a:p>
            <a:pPr algn="l">
              <a:lnSpc>
                <a:spcPts val="3342"/>
              </a:lnSpc>
            </a:pPr>
            <a:endParaRPr lang="en-US" sz="3999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342"/>
              </a:lnSpc>
            </a:pPr>
            <a:r>
              <a:rPr lang="en-US" sz="309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Dhruvi Faldu - AU2440216</a:t>
            </a:r>
          </a:p>
          <a:p>
            <a:pPr algn="l">
              <a:lnSpc>
                <a:spcPts val="3342"/>
              </a:lnSpc>
            </a:pPr>
            <a:r>
              <a:rPr lang="en-US" sz="309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 Patel - AU2440252</a:t>
            </a:r>
          </a:p>
          <a:p>
            <a:pPr algn="l">
              <a:lnSpc>
                <a:spcPts val="3342"/>
              </a:lnSpc>
            </a:pPr>
            <a:r>
              <a:rPr lang="en-US" sz="309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Aashi Bhimjiyani - AU2440027</a:t>
            </a:r>
          </a:p>
          <a:p>
            <a:pPr algn="l">
              <a:lnSpc>
                <a:spcPts val="3342"/>
              </a:lnSpc>
            </a:pPr>
            <a:r>
              <a:rPr lang="en-US" sz="309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Aastha Gandhi - AU2440107</a:t>
            </a:r>
          </a:p>
          <a:p>
            <a:pPr algn="l">
              <a:lnSpc>
                <a:spcPts val="3342"/>
              </a:lnSpc>
            </a:pPr>
            <a:endParaRPr lang="en-US" sz="3095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03409" y="1578866"/>
            <a:ext cx="16493663" cy="825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00"/>
              </a:lnSpc>
            </a:pPr>
            <a:r>
              <a:rPr lang="en-US" sz="4500" b="1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Motivation</a:t>
            </a:r>
          </a:p>
          <a:p>
            <a:pPr algn="just">
              <a:lnSpc>
                <a:spcPts val="5400"/>
              </a:lnSpc>
            </a:pPr>
            <a:endParaRPr lang="en-US" sz="4500" b="1">
              <a:solidFill>
                <a:srgbClr val="7D191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971550" lvl="1" indent="-485775" algn="just">
              <a:lnSpc>
                <a:spcPts val="54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aerial-image collections are difficult to search manually</a:t>
            </a:r>
          </a:p>
          <a:p>
            <a:pPr marL="971550" lvl="1" indent="-485775" algn="just">
              <a:lnSpc>
                <a:spcPts val="54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may contain multiple scene types</a:t>
            </a:r>
          </a:p>
          <a:p>
            <a:pPr marL="971550" lvl="1" indent="-485775" algn="just">
              <a:lnSpc>
                <a:spcPts val="54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Similar-looking images can have different meanings</a:t>
            </a:r>
          </a:p>
          <a:p>
            <a:pPr algn="just">
              <a:lnSpc>
                <a:spcPts val="5400"/>
              </a:lnSpc>
            </a:pPr>
            <a:endParaRPr lang="en-US" sz="4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400"/>
              </a:lnSpc>
            </a:pPr>
            <a:endParaRPr lang="en-US" sz="4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400"/>
              </a:lnSpc>
            </a:pPr>
            <a:r>
              <a:rPr lang="en-US" sz="4500" b="1">
                <a:solidFill>
                  <a:srgbClr val="801B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</a:t>
            </a:r>
          </a:p>
          <a:p>
            <a:pPr algn="just">
              <a:lnSpc>
                <a:spcPts val="5400"/>
              </a:lnSpc>
            </a:pPr>
            <a:endParaRPr lang="en-US" sz="4500" b="1">
              <a:solidFill>
                <a:srgbClr val="801B19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971550" lvl="1" indent="-485775" algn="just">
              <a:lnSpc>
                <a:spcPts val="54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 the most relevant images for a query</a:t>
            </a:r>
          </a:p>
          <a:p>
            <a:pPr marL="971550" lvl="1" indent="-485775" algn="just">
              <a:lnSpc>
                <a:spcPts val="54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 visual similarity and retrieval reliability</a:t>
            </a:r>
          </a:p>
          <a:p>
            <a:pPr algn="just">
              <a:lnSpc>
                <a:spcPts val="5400"/>
              </a:lnSpc>
            </a:pPr>
            <a:endParaRPr lang="en-US" sz="4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57300" y="893845"/>
            <a:ext cx="15773400" cy="1691196"/>
            <a:chOff x="0" y="0"/>
            <a:chExt cx="21031200" cy="22549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2254931"/>
            </a:xfrm>
            <a:custGeom>
              <a:avLst/>
              <a:gdLst/>
              <a:ahLst/>
              <a:cxnLst/>
              <a:rect l="l" t="t" r="r" b="b"/>
              <a:pathLst>
                <a:path w="21031200" h="2254931">
                  <a:moveTo>
                    <a:pt x="0" y="0"/>
                  </a:moveTo>
                  <a:lnTo>
                    <a:pt x="21031200" y="0"/>
                  </a:lnTo>
                  <a:lnTo>
                    <a:pt x="21031200" y="2254931"/>
                  </a:lnTo>
                  <a:lnTo>
                    <a:pt x="0" y="22549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5206" b="-10825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21031200" cy="223587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7D191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review: what existing methods do</a:t>
              </a:r>
            </a:p>
            <a:p>
              <a:pPr algn="ctr">
                <a:lnSpc>
                  <a:spcPts val="5400"/>
                </a:lnSpc>
              </a:pPr>
              <a:endParaRPr lang="en-US" sz="5000" b="1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57300" y="2295906"/>
            <a:ext cx="16311704" cy="719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Colour histograms - colour-based image retrieval</a:t>
            </a:r>
          </a:p>
          <a:p>
            <a:pPr algn="l">
              <a:lnSpc>
                <a:spcPts val="6299"/>
              </a:lnSpc>
            </a:pPr>
            <a:endParaRPr lang="en-US" sz="4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LBP - local texture patterns</a:t>
            </a:r>
          </a:p>
          <a:p>
            <a:pPr algn="l">
              <a:lnSpc>
                <a:spcPts val="6299"/>
              </a:lnSpc>
            </a:pPr>
            <a:endParaRPr lang="en-US" sz="4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HOG - gradient and shape information</a:t>
            </a:r>
          </a:p>
          <a:p>
            <a:pPr algn="l">
              <a:lnSpc>
                <a:spcPts val="6299"/>
              </a:lnSpc>
            </a:pPr>
            <a:endParaRPr lang="en-US" sz="4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approach - fuse handcrafted features for multi-label retrieval and explanations</a:t>
            </a:r>
          </a:p>
          <a:p>
            <a:pPr algn="l">
              <a:lnSpc>
                <a:spcPts val="6299"/>
              </a:lnSpc>
            </a:pPr>
            <a:endParaRPr lang="en-US" sz="4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8373537" y="2203804"/>
            <a:ext cx="398755" cy="604619"/>
            <a:chOff x="0" y="0"/>
            <a:chExt cx="564511" cy="8559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64512" cy="855950"/>
            </a:xfrm>
            <a:custGeom>
              <a:avLst/>
              <a:gdLst/>
              <a:ahLst/>
              <a:cxnLst/>
              <a:rect l="l" t="t" r="r" b="b"/>
              <a:pathLst>
                <a:path w="564512" h="855950">
                  <a:moveTo>
                    <a:pt x="282256" y="855950"/>
                  </a:moveTo>
                  <a:lnTo>
                    <a:pt x="0" y="449550"/>
                  </a:lnTo>
                  <a:lnTo>
                    <a:pt x="203200" y="449550"/>
                  </a:lnTo>
                  <a:lnTo>
                    <a:pt x="203200" y="0"/>
                  </a:lnTo>
                  <a:lnTo>
                    <a:pt x="361311" y="0"/>
                  </a:lnTo>
                  <a:lnTo>
                    <a:pt x="361311" y="449550"/>
                  </a:lnTo>
                  <a:lnTo>
                    <a:pt x="564512" y="449550"/>
                  </a:lnTo>
                  <a:lnTo>
                    <a:pt x="282256" y="855950"/>
                  </a:lnTo>
                  <a:close/>
                </a:path>
              </a:pathLst>
            </a:custGeom>
            <a:solidFill>
              <a:srgbClr val="801B1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203200" y="-19050"/>
              <a:ext cx="158111" cy="77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77969" y="4613622"/>
            <a:ext cx="1774587" cy="1514950"/>
            <a:chOff x="0" y="0"/>
            <a:chExt cx="467381" cy="3989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67381" cy="398999"/>
            </a:xfrm>
            <a:custGeom>
              <a:avLst/>
              <a:gdLst/>
              <a:ahLst/>
              <a:cxnLst/>
              <a:rect l="l" t="t" r="r" b="b"/>
              <a:pathLst>
                <a:path w="467381" h="398999">
                  <a:moveTo>
                    <a:pt x="199500" y="0"/>
                  </a:moveTo>
                  <a:lnTo>
                    <a:pt x="267881" y="0"/>
                  </a:lnTo>
                  <a:cubicBezTo>
                    <a:pt x="320792" y="0"/>
                    <a:pt x="371535" y="21019"/>
                    <a:pt x="408949" y="58432"/>
                  </a:cubicBezTo>
                  <a:cubicBezTo>
                    <a:pt x="446362" y="95845"/>
                    <a:pt x="467381" y="146589"/>
                    <a:pt x="467381" y="199500"/>
                  </a:cubicBezTo>
                  <a:lnTo>
                    <a:pt x="467381" y="199500"/>
                  </a:lnTo>
                  <a:cubicBezTo>
                    <a:pt x="467381" y="252410"/>
                    <a:pt x="446362" y="303154"/>
                    <a:pt x="408949" y="340567"/>
                  </a:cubicBezTo>
                  <a:cubicBezTo>
                    <a:pt x="371535" y="377980"/>
                    <a:pt x="320792" y="398999"/>
                    <a:pt x="267881" y="398999"/>
                  </a:cubicBezTo>
                  <a:lnTo>
                    <a:pt x="199500" y="398999"/>
                  </a:lnTo>
                  <a:cubicBezTo>
                    <a:pt x="146589" y="398999"/>
                    <a:pt x="95845" y="377980"/>
                    <a:pt x="58432" y="340567"/>
                  </a:cubicBezTo>
                  <a:cubicBezTo>
                    <a:pt x="21019" y="303154"/>
                    <a:pt x="0" y="252410"/>
                    <a:pt x="0" y="199500"/>
                  </a:cubicBezTo>
                  <a:lnTo>
                    <a:pt x="0" y="199500"/>
                  </a:lnTo>
                  <a:cubicBezTo>
                    <a:pt x="0" y="146589"/>
                    <a:pt x="21019" y="95845"/>
                    <a:pt x="58432" y="58432"/>
                  </a:cubicBezTo>
                  <a:cubicBezTo>
                    <a:pt x="95845" y="21019"/>
                    <a:pt x="146589" y="0"/>
                    <a:pt x="19950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467381" cy="418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75449" y="4613622"/>
            <a:ext cx="1774587" cy="1514950"/>
            <a:chOff x="0" y="0"/>
            <a:chExt cx="467381" cy="39899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67381" cy="398999"/>
            </a:xfrm>
            <a:custGeom>
              <a:avLst/>
              <a:gdLst/>
              <a:ahLst/>
              <a:cxnLst/>
              <a:rect l="l" t="t" r="r" b="b"/>
              <a:pathLst>
                <a:path w="467381" h="398999">
                  <a:moveTo>
                    <a:pt x="199500" y="0"/>
                  </a:moveTo>
                  <a:lnTo>
                    <a:pt x="267881" y="0"/>
                  </a:lnTo>
                  <a:cubicBezTo>
                    <a:pt x="320792" y="0"/>
                    <a:pt x="371535" y="21019"/>
                    <a:pt x="408949" y="58432"/>
                  </a:cubicBezTo>
                  <a:cubicBezTo>
                    <a:pt x="446362" y="95845"/>
                    <a:pt x="467381" y="146589"/>
                    <a:pt x="467381" y="199500"/>
                  </a:cubicBezTo>
                  <a:lnTo>
                    <a:pt x="467381" y="199500"/>
                  </a:lnTo>
                  <a:cubicBezTo>
                    <a:pt x="467381" y="252410"/>
                    <a:pt x="446362" y="303154"/>
                    <a:pt x="408949" y="340567"/>
                  </a:cubicBezTo>
                  <a:cubicBezTo>
                    <a:pt x="371535" y="377980"/>
                    <a:pt x="320792" y="398999"/>
                    <a:pt x="267881" y="398999"/>
                  </a:cubicBezTo>
                  <a:lnTo>
                    <a:pt x="199500" y="398999"/>
                  </a:lnTo>
                  <a:cubicBezTo>
                    <a:pt x="146589" y="398999"/>
                    <a:pt x="95845" y="377980"/>
                    <a:pt x="58432" y="340567"/>
                  </a:cubicBezTo>
                  <a:cubicBezTo>
                    <a:pt x="21019" y="303154"/>
                    <a:pt x="0" y="252410"/>
                    <a:pt x="0" y="199500"/>
                  </a:cubicBezTo>
                  <a:lnTo>
                    <a:pt x="0" y="199500"/>
                  </a:lnTo>
                  <a:cubicBezTo>
                    <a:pt x="0" y="146589"/>
                    <a:pt x="21019" y="95845"/>
                    <a:pt x="58432" y="58432"/>
                  </a:cubicBezTo>
                  <a:cubicBezTo>
                    <a:pt x="95845" y="21019"/>
                    <a:pt x="146589" y="0"/>
                    <a:pt x="19950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67381" cy="418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77969" y="2741749"/>
            <a:ext cx="1774587" cy="1543050"/>
            <a:chOff x="0" y="0"/>
            <a:chExt cx="467381" cy="406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67381" cy="406400"/>
            </a:xfrm>
            <a:custGeom>
              <a:avLst/>
              <a:gdLst/>
              <a:ahLst/>
              <a:cxnLst/>
              <a:rect l="l" t="t" r="r" b="b"/>
              <a:pathLst>
                <a:path w="467381" h="406400">
                  <a:moveTo>
                    <a:pt x="203200" y="0"/>
                  </a:moveTo>
                  <a:lnTo>
                    <a:pt x="264181" y="0"/>
                  </a:lnTo>
                  <a:cubicBezTo>
                    <a:pt x="376405" y="0"/>
                    <a:pt x="467381" y="90976"/>
                    <a:pt x="467381" y="203200"/>
                  </a:cubicBezTo>
                  <a:lnTo>
                    <a:pt x="467381" y="203200"/>
                  </a:lnTo>
                  <a:cubicBezTo>
                    <a:pt x="467381" y="257092"/>
                    <a:pt x="445972" y="308777"/>
                    <a:pt x="407865" y="346884"/>
                  </a:cubicBezTo>
                  <a:cubicBezTo>
                    <a:pt x="369758" y="384991"/>
                    <a:pt x="318073" y="406400"/>
                    <a:pt x="26418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467381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950552" y="2741749"/>
            <a:ext cx="1799484" cy="1543050"/>
            <a:chOff x="0" y="0"/>
            <a:chExt cx="473938" cy="406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3938" cy="406400"/>
            </a:xfrm>
            <a:custGeom>
              <a:avLst/>
              <a:gdLst/>
              <a:ahLst/>
              <a:cxnLst/>
              <a:rect l="l" t="t" r="r" b="b"/>
              <a:pathLst>
                <a:path w="473938" h="406400">
                  <a:moveTo>
                    <a:pt x="203200" y="0"/>
                  </a:moveTo>
                  <a:lnTo>
                    <a:pt x="270738" y="0"/>
                  </a:lnTo>
                  <a:cubicBezTo>
                    <a:pt x="382963" y="0"/>
                    <a:pt x="473938" y="90976"/>
                    <a:pt x="473938" y="203200"/>
                  </a:cubicBezTo>
                  <a:lnTo>
                    <a:pt x="473938" y="203200"/>
                  </a:lnTo>
                  <a:cubicBezTo>
                    <a:pt x="473938" y="257092"/>
                    <a:pt x="452530" y="308777"/>
                    <a:pt x="414422" y="346884"/>
                  </a:cubicBezTo>
                  <a:cubicBezTo>
                    <a:pt x="376315" y="384991"/>
                    <a:pt x="324630" y="406400"/>
                    <a:pt x="27073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473938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9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562581" y="718185"/>
            <a:ext cx="14419422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60"/>
              </a:lnSpc>
              <a:spcBef>
                <a:spcPct val="0"/>
              </a:spcBef>
            </a:pPr>
            <a:r>
              <a:rPr lang="en-US" sz="4500" b="1">
                <a:solidFill>
                  <a:srgbClr val="7D191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Methodology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78590" y="1584679"/>
            <a:ext cx="4171446" cy="581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Aerial Image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77969" y="3227524"/>
            <a:ext cx="1774587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801B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HSV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25244" y="3251573"/>
            <a:ext cx="172479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801B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LBP-1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02867" y="5075821"/>
            <a:ext cx="172479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801B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25244" y="5075821"/>
            <a:ext cx="172479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801B1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LBP-2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437" y="3285121"/>
            <a:ext cx="1774587" cy="581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Colour</a:t>
            </a:r>
            <a:endParaRPr lang="en-US" sz="3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1528655" y="3251573"/>
            <a:ext cx="2123739" cy="581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Texture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148605" y="5123446"/>
            <a:ext cx="1774587" cy="581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88000" y="5075821"/>
            <a:ext cx="3088878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Multi-scale Texture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373537" y="6135865"/>
            <a:ext cx="398755" cy="604619"/>
            <a:chOff x="0" y="0"/>
            <a:chExt cx="564511" cy="8559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64512" cy="855950"/>
            </a:xfrm>
            <a:custGeom>
              <a:avLst/>
              <a:gdLst/>
              <a:ahLst/>
              <a:cxnLst/>
              <a:rect l="l" t="t" r="r" b="b"/>
              <a:pathLst>
                <a:path w="564512" h="855950">
                  <a:moveTo>
                    <a:pt x="282256" y="855950"/>
                  </a:moveTo>
                  <a:lnTo>
                    <a:pt x="0" y="449550"/>
                  </a:lnTo>
                  <a:lnTo>
                    <a:pt x="203200" y="449550"/>
                  </a:lnTo>
                  <a:lnTo>
                    <a:pt x="203200" y="0"/>
                  </a:lnTo>
                  <a:lnTo>
                    <a:pt x="361311" y="0"/>
                  </a:lnTo>
                  <a:lnTo>
                    <a:pt x="361311" y="449550"/>
                  </a:lnTo>
                  <a:lnTo>
                    <a:pt x="564512" y="449550"/>
                  </a:lnTo>
                  <a:lnTo>
                    <a:pt x="282256" y="855950"/>
                  </a:lnTo>
                  <a:close/>
                </a:path>
              </a:pathLst>
            </a:custGeom>
            <a:solidFill>
              <a:srgbClr val="801B19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203200" y="-19050"/>
              <a:ext cx="158111" cy="77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3583214" y="6959559"/>
            <a:ext cx="11275786" cy="581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fusion → similarity scores → ranked images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8373537" y="7715835"/>
            <a:ext cx="398755" cy="604619"/>
            <a:chOff x="0" y="0"/>
            <a:chExt cx="564511" cy="85595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64512" cy="855950"/>
            </a:xfrm>
            <a:custGeom>
              <a:avLst/>
              <a:gdLst/>
              <a:ahLst/>
              <a:cxnLst/>
              <a:rect l="l" t="t" r="r" b="b"/>
              <a:pathLst>
                <a:path w="564512" h="855950">
                  <a:moveTo>
                    <a:pt x="282256" y="855950"/>
                  </a:moveTo>
                  <a:lnTo>
                    <a:pt x="0" y="449550"/>
                  </a:lnTo>
                  <a:lnTo>
                    <a:pt x="203200" y="449550"/>
                  </a:lnTo>
                  <a:lnTo>
                    <a:pt x="203200" y="0"/>
                  </a:lnTo>
                  <a:lnTo>
                    <a:pt x="361311" y="0"/>
                  </a:lnTo>
                  <a:lnTo>
                    <a:pt x="361311" y="449550"/>
                  </a:lnTo>
                  <a:lnTo>
                    <a:pt x="564512" y="449550"/>
                  </a:lnTo>
                  <a:lnTo>
                    <a:pt x="282256" y="855950"/>
                  </a:lnTo>
                  <a:close/>
                </a:path>
              </a:pathLst>
            </a:custGeom>
            <a:solidFill>
              <a:srgbClr val="801B19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203200" y="-19050"/>
              <a:ext cx="158111" cy="77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99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3676231" y="8389629"/>
            <a:ext cx="9976163" cy="581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Top-K results + visual evidence + reliability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57300" y="893845"/>
            <a:ext cx="15773400" cy="1005396"/>
            <a:chOff x="0" y="0"/>
            <a:chExt cx="21031200" cy="13405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1340531"/>
            </a:xfrm>
            <a:custGeom>
              <a:avLst/>
              <a:gdLst/>
              <a:ahLst/>
              <a:cxnLst/>
              <a:rect l="l" t="t" r="r" b="b"/>
              <a:pathLst>
                <a:path w="21031200" h="1340531">
                  <a:moveTo>
                    <a:pt x="0" y="0"/>
                  </a:moveTo>
                  <a:lnTo>
                    <a:pt x="21031200" y="0"/>
                  </a:lnTo>
                  <a:lnTo>
                    <a:pt x="21031200" y="1340531"/>
                  </a:lnTo>
                  <a:lnTo>
                    <a:pt x="0" y="13405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1075" b="-250315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21031200" cy="132147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7D191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Experimental results</a:t>
              </a:r>
            </a:p>
          </p:txBody>
        </p:sp>
      </p:grp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2586942" y="2899256"/>
          <a:ext cx="14289507" cy="6553200"/>
        </p:xfrm>
        <a:graphic>
          <a:graphicData uri="http://schemas.openxmlformats.org/drawingml/2006/table">
            <a:tbl>
              <a:tblPr/>
              <a:tblGrid>
                <a:gridCol w="4602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6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30523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Week 1 best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Final V2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523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 Precision@10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33.45%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38.67%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3156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Multi-label Precision@10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34.83%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36.50%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8475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Jaccard@10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0.627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0.649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523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nDCG@10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0.653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0.674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4"/>
          <p:cNvSpPr txBox="1"/>
          <p:nvPr/>
        </p:nvSpPr>
        <p:spPr>
          <a:xfrm>
            <a:off x="2586942" y="2050804"/>
            <a:ext cx="1428950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TEST SET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40727" y="125960"/>
            <a:ext cx="8893521" cy="5929014"/>
          </a:xfrm>
          <a:custGeom>
            <a:avLst/>
            <a:gdLst/>
            <a:ahLst/>
            <a:cxnLst/>
            <a:rect l="l" t="t" r="r" b="b"/>
            <a:pathLst>
              <a:path w="8893521" h="5929014">
                <a:moveTo>
                  <a:pt x="0" y="0"/>
                </a:moveTo>
                <a:lnTo>
                  <a:pt x="8893521" y="0"/>
                </a:lnTo>
                <a:lnTo>
                  <a:pt x="8893521" y="5929014"/>
                </a:lnTo>
                <a:lnTo>
                  <a:pt x="0" y="5929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144000" y="4068894"/>
            <a:ext cx="8832011" cy="5888008"/>
          </a:xfrm>
          <a:custGeom>
            <a:avLst/>
            <a:gdLst/>
            <a:ahLst/>
            <a:cxnLst/>
            <a:rect l="l" t="t" r="r" b="b"/>
            <a:pathLst>
              <a:path w="8832011" h="5888008">
                <a:moveTo>
                  <a:pt x="0" y="0"/>
                </a:moveTo>
                <a:lnTo>
                  <a:pt x="8832011" y="0"/>
                </a:lnTo>
                <a:lnTo>
                  <a:pt x="8832011" y="5888008"/>
                </a:lnTo>
                <a:lnTo>
                  <a:pt x="0" y="58880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57300" y="893845"/>
            <a:ext cx="15773400" cy="1005396"/>
            <a:chOff x="0" y="0"/>
            <a:chExt cx="21031200" cy="13405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1340531"/>
            </a:xfrm>
            <a:custGeom>
              <a:avLst/>
              <a:gdLst/>
              <a:ahLst/>
              <a:cxnLst/>
              <a:rect l="l" t="t" r="r" b="b"/>
              <a:pathLst>
                <a:path w="21031200" h="1340531">
                  <a:moveTo>
                    <a:pt x="0" y="0"/>
                  </a:moveTo>
                  <a:lnTo>
                    <a:pt x="21031200" y="0"/>
                  </a:lnTo>
                  <a:lnTo>
                    <a:pt x="21031200" y="1340531"/>
                  </a:lnTo>
                  <a:lnTo>
                    <a:pt x="0" y="13405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1075" b="-250315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21031200" cy="132147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7D191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Explainability and reliability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32782" y="2838510"/>
            <a:ext cx="15997918" cy="551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54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comparison of query and retrieved images</a:t>
            </a:r>
          </a:p>
          <a:p>
            <a:pPr algn="l">
              <a:lnSpc>
                <a:spcPts val="5400"/>
              </a:lnSpc>
            </a:pPr>
            <a:endParaRPr lang="en-US" sz="4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1550" lvl="1" indent="-485775" algn="l">
              <a:lnSpc>
                <a:spcPts val="5400"/>
              </a:lnSpc>
              <a:spcBef>
                <a:spcPct val="0"/>
              </a:spcBef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Feature-based evidence for similarity</a:t>
            </a:r>
          </a:p>
          <a:p>
            <a:pPr algn="l">
              <a:lnSpc>
                <a:spcPts val="5400"/>
              </a:lnSpc>
              <a:spcBef>
                <a:spcPct val="0"/>
              </a:spcBef>
            </a:pPr>
            <a:endParaRPr lang="en-US" sz="4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1550" lvl="1" indent="-485775" algn="l">
              <a:lnSpc>
                <a:spcPts val="5400"/>
              </a:lnSpc>
              <a:spcBef>
                <a:spcPct val="0"/>
              </a:spcBef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/ medium / low retrieval-reliability groups</a:t>
            </a:r>
          </a:p>
          <a:p>
            <a:pPr algn="l">
              <a:lnSpc>
                <a:spcPts val="5400"/>
              </a:lnSpc>
              <a:spcBef>
                <a:spcPct val="0"/>
              </a:spcBef>
            </a:pPr>
            <a:endParaRPr lang="en-US" sz="4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1550" lvl="1" indent="-485775" algn="l">
              <a:lnSpc>
                <a:spcPts val="5400"/>
              </a:lnSpc>
              <a:spcBef>
                <a:spcPct val="0"/>
              </a:spcBef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 cases: airport, bridge, playground, river, square, stadium</a:t>
            </a:r>
          </a:p>
          <a:p>
            <a:pPr algn="l">
              <a:lnSpc>
                <a:spcPts val="5400"/>
              </a:lnSpc>
              <a:spcBef>
                <a:spcPct val="0"/>
              </a:spcBef>
            </a:pPr>
            <a:endParaRPr lang="en-US" sz="4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9287062" y="2623293"/>
            <a:ext cx="8547427" cy="7233366"/>
          </a:xfrm>
          <a:custGeom>
            <a:avLst/>
            <a:gdLst/>
            <a:ahLst/>
            <a:cxnLst/>
            <a:rect l="l" t="t" r="r" b="b"/>
            <a:pathLst>
              <a:path w="8547427" h="7233366">
                <a:moveTo>
                  <a:pt x="0" y="0"/>
                </a:moveTo>
                <a:lnTo>
                  <a:pt x="8547427" y="0"/>
                </a:lnTo>
                <a:lnTo>
                  <a:pt x="8547427" y="7233366"/>
                </a:lnTo>
                <a:lnTo>
                  <a:pt x="0" y="7233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60103" y="183527"/>
            <a:ext cx="8883897" cy="5922598"/>
          </a:xfrm>
          <a:custGeom>
            <a:avLst/>
            <a:gdLst/>
            <a:ahLst/>
            <a:cxnLst/>
            <a:rect l="l" t="t" r="r" b="b"/>
            <a:pathLst>
              <a:path w="8883897" h="5922598">
                <a:moveTo>
                  <a:pt x="0" y="0"/>
                </a:moveTo>
                <a:lnTo>
                  <a:pt x="8883897" y="0"/>
                </a:lnTo>
                <a:lnTo>
                  <a:pt x="8883897" y="5922598"/>
                </a:lnTo>
                <a:lnTo>
                  <a:pt x="0" y="59225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57300" y="893845"/>
            <a:ext cx="15773400" cy="1005396"/>
            <a:chOff x="0" y="0"/>
            <a:chExt cx="21031200" cy="13405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1340531"/>
            </a:xfrm>
            <a:custGeom>
              <a:avLst/>
              <a:gdLst/>
              <a:ahLst/>
              <a:cxnLst/>
              <a:rect l="l" t="t" r="r" b="b"/>
              <a:pathLst>
                <a:path w="21031200" h="1340531">
                  <a:moveTo>
                    <a:pt x="0" y="0"/>
                  </a:moveTo>
                  <a:lnTo>
                    <a:pt x="21031200" y="0"/>
                  </a:lnTo>
                  <a:lnTo>
                    <a:pt x="21031200" y="1340531"/>
                  </a:lnTo>
                  <a:lnTo>
                    <a:pt x="0" y="13405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1075" b="-250315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21031200" cy="132147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7D191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Next plan and limitations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87590" y="2948263"/>
            <a:ext cx="15310261" cy="551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54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retrieval for confusing scene classes</a:t>
            </a:r>
          </a:p>
          <a:p>
            <a:pPr algn="l">
              <a:lnSpc>
                <a:spcPts val="5400"/>
              </a:lnSpc>
            </a:pPr>
            <a:endParaRPr lang="en-US" sz="4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1550" lvl="1" indent="-485775" algn="l">
              <a:lnSpc>
                <a:spcPts val="5400"/>
              </a:lnSpc>
              <a:spcBef>
                <a:spcPct val="0"/>
              </a:spcBef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Strengthen explanation and reliability validation</a:t>
            </a:r>
          </a:p>
          <a:p>
            <a:pPr algn="l">
              <a:lnSpc>
                <a:spcPts val="5400"/>
              </a:lnSpc>
              <a:spcBef>
                <a:spcPct val="0"/>
              </a:spcBef>
            </a:pPr>
            <a:endParaRPr lang="en-US" sz="4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1550" lvl="1" indent="-485775" algn="l">
              <a:lnSpc>
                <a:spcPts val="5400"/>
              </a:lnSpc>
              <a:spcBef>
                <a:spcPct val="0"/>
              </a:spcBef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failure cases and multi-label errors</a:t>
            </a:r>
          </a:p>
          <a:p>
            <a:pPr algn="l">
              <a:lnSpc>
                <a:spcPts val="5400"/>
              </a:lnSpc>
              <a:spcBef>
                <a:spcPct val="0"/>
              </a:spcBef>
            </a:pPr>
            <a:endParaRPr lang="en-US" sz="4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1550" lvl="1" indent="-485775" algn="l">
              <a:lnSpc>
                <a:spcPts val="5400"/>
              </a:lnSpc>
              <a:spcBef>
                <a:spcPct val="0"/>
              </a:spcBef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robustness across different image conditions</a:t>
            </a:r>
          </a:p>
          <a:p>
            <a:pPr algn="l">
              <a:lnSpc>
                <a:spcPts val="5400"/>
              </a:lnSpc>
              <a:spcBef>
                <a:spcPct val="0"/>
              </a:spcBef>
            </a:pPr>
            <a:endParaRPr lang="en-US" sz="4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0134600"/>
            <a:ext cx="13716000" cy="152400"/>
            <a:chOff x="0" y="0"/>
            <a:chExt cx="18288000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03200"/>
            </a:xfrm>
            <a:custGeom>
              <a:avLst/>
              <a:gdLst/>
              <a:ahLst/>
              <a:cxnLst/>
              <a:rect l="l" t="t" r="r" b="b"/>
              <a:pathLst>
                <a:path w="18288000" h="2032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981" b="-398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0134600"/>
            <a:ext cx="3898078" cy="152400"/>
            <a:chOff x="0" y="0"/>
            <a:chExt cx="5197437" cy="20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7475" cy="203200"/>
            </a:xfrm>
            <a:custGeom>
              <a:avLst/>
              <a:gdLst/>
              <a:ahLst/>
              <a:cxnLst/>
              <a:rect l="l" t="t" r="r" b="b"/>
              <a:pathLst>
                <a:path w="5197475" h="203200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86078" b="-1846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8220" y="9058418"/>
            <a:ext cx="2048723" cy="898484"/>
            <a:chOff x="0" y="0"/>
            <a:chExt cx="2731630" cy="1197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643" cy="1197991"/>
            </a:xfrm>
            <a:custGeom>
              <a:avLst/>
              <a:gdLst/>
              <a:ahLst/>
              <a:cxnLst/>
              <a:rect l="l" t="t" r="r" b="b"/>
              <a:pathLst>
                <a:path w="2731643" h="1197991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57300" y="893845"/>
            <a:ext cx="15773400" cy="1005396"/>
            <a:chOff x="0" y="0"/>
            <a:chExt cx="21031200" cy="13405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1340531"/>
            </a:xfrm>
            <a:custGeom>
              <a:avLst/>
              <a:gdLst/>
              <a:ahLst/>
              <a:cxnLst/>
              <a:rect l="l" t="t" r="r" b="b"/>
              <a:pathLst>
                <a:path w="21031200" h="1340531">
                  <a:moveTo>
                    <a:pt x="0" y="0"/>
                  </a:moveTo>
                  <a:lnTo>
                    <a:pt x="21031200" y="0"/>
                  </a:lnTo>
                  <a:lnTo>
                    <a:pt x="21031200" y="1340531"/>
                  </a:lnTo>
                  <a:lnTo>
                    <a:pt x="0" y="13405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1075" b="-250315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21031200" cy="132147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400"/>
                </a:lnSpc>
              </a:pPr>
              <a:r>
                <a:rPr lang="en-US" sz="5000" b="1">
                  <a:solidFill>
                    <a:srgbClr val="7D191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Individual contributions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2524932"/>
            <a:ext cx="16230600" cy="553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5400"/>
              </a:lnSpc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Dev:  Data handling and processing</a:t>
            </a:r>
          </a:p>
          <a:p>
            <a:pPr algn="l">
              <a:lnSpc>
                <a:spcPts val="5400"/>
              </a:lnSpc>
            </a:pPr>
            <a:endParaRPr lang="en-US" sz="4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1550" lvl="1" indent="-485775" algn="l">
              <a:lnSpc>
                <a:spcPts val="5400"/>
              </a:lnSpc>
              <a:spcBef>
                <a:spcPct val="0"/>
              </a:spcBef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Aashi: Feature extraction - color, texture and shape</a:t>
            </a:r>
          </a:p>
          <a:p>
            <a:pPr marL="485775" lvl="1" algn="l">
              <a:lnSpc>
                <a:spcPts val="5400"/>
              </a:lnSpc>
              <a:spcBef>
                <a:spcPct val="0"/>
              </a:spcBef>
            </a:pPr>
            <a:endParaRPr lang="en-US" sz="4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1550" lvl="1" indent="-485775">
              <a:lnSpc>
                <a:spcPts val="5400"/>
              </a:lnSpc>
              <a:spcBef>
                <a:spcPct val="0"/>
              </a:spcBef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Aastha: Similarity calculation and ranking</a:t>
            </a:r>
          </a:p>
          <a:p>
            <a:pPr algn="l">
              <a:lnSpc>
                <a:spcPts val="5400"/>
              </a:lnSpc>
              <a:spcBef>
                <a:spcPct val="0"/>
              </a:spcBef>
            </a:pPr>
            <a:endParaRPr lang="en-US" sz="4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71550" lvl="1" indent="-485775" algn="l">
              <a:lnSpc>
                <a:spcPts val="5400"/>
              </a:lnSpc>
              <a:spcBef>
                <a:spcPct val="0"/>
              </a:spcBef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Dhruvi: Explainability, evaluation and documentation </a:t>
            </a:r>
          </a:p>
          <a:p>
            <a:pPr algn="l">
              <a:lnSpc>
                <a:spcPts val="5400"/>
              </a:lnSpc>
              <a:spcBef>
                <a:spcPct val="0"/>
              </a:spcBef>
            </a:pPr>
            <a:endParaRPr lang="en-US" sz="4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89922" y="10134600"/>
            <a:ext cx="3898078" cy="158248"/>
            <a:chOff x="0" y="0"/>
            <a:chExt cx="5197437" cy="2109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97475" cy="210947"/>
            </a:xfrm>
            <a:custGeom>
              <a:avLst/>
              <a:gdLst/>
              <a:ahLst/>
              <a:cxnLst/>
              <a:rect l="l" t="t" r="r" b="b"/>
              <a:pathLst>
                <a:path w="5197475" h="210947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00882" b="-1848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744356" y="2143666"/>
            <a:ext cx="6159208" cy="2021586"/>
            <a:chOff x="0" y="0"/>
            <a:chExt cx="8212277" cy="26954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212328" cy="2695448"/>
            </a:xfrm>
            <a:custGeom>
              <a:avLst/>
              <a:gdLst/>
              <a:ahLst/>
              <a:cxnLst/>
              <a:rect l="l" t="t" r="r" b="b"/>
              <a:pathLst>
                <a:path w="8212328" h="2695448">
                  <a:moveTo>
                    <a:pt x="0" y="0"/>
                  </a:moveTo>
                  <a:lnTo>
                    <a:pt x="8212328" y="0"/>
                  </a:lnTo>
                  <a:lnTo>
                    <a:pt x="8212328" y="2695448"/>
                  </a:lnTo>
                  <a:lnTo>
                    <a:pt x="0" y="2695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" r="-5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28700" y="5708776"/>
            <a:ext cx="15590520" cy="116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80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267</Words>
  <Application>Microsoft Office PowerPoint</Application>
  <PresentationFormat>Custom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Calibri</vt:lpstr>
      <vt:lpstr>Times New Roman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DIP MidSem Presentation</dc:title>
  <dc:creator>VICTUS</dc:creator>
  <cp:lastModifiedBy>Aastha Gandhi</cp:lastModifiedBy>
  <cp:revision>4</cp:revision>
  <dcterms:created xsi:type="dcterms:W3CDTF">2006-08-16T00:00:00Z</dcterms:created>
  <dcterms:modified xsi:type="dcterms:W3CDTF">2026-10-11T09:54:09Z</dcterms:modified>
  <dc:identifier>DAHXrju3v5o</dc:identifier>
</cp:coreProperties>
</file>